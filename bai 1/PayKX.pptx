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image" Target="../media/image1.png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image" Target="../media/image1.png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image" Target="../media/image1.png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3" name="等腰三角形 15"/>
          <p:cNvSpPr/>
          <p:nvPr>
            <p:custDataLst>
              <p:tags r:id="rId3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838200" y="1252855"/>
            <a:ext cx="10515600" cy="2902585"/>
          </a:xfrm>
          <a:noFill/>
        </p:spPr>
        <p:txBody>
          <a:bodyPr wrap="square" rtlCol="0" anchor="t">
            <a:normAutofit/>
          </a:bodyPr>
          <a:lstStyle>
            <a:lvl1pPr>
              <a:defRPr lang="en-US" sz="5200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lt"/>
              </a:defRPr>
            </a:lvl1pPr>
          </a:lstStyle>
          <a:p>
            <a:pPr marL="0" lvl="0" defTabSz="1218565"/>
            <a:r>
              <a:rPr sz="6000" dirty="0">
                <a:sym typeface="+mn-ea"/>
              </a:rPr>
              <a:t>Click to add title</a:t>
            </a:r>
            <a:endParaRPr sz="6000" dirty="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904875" y="180975"/>
            <a:ext cx="10515600" cy="944880"/>
          </a:xfrm>
          <a:noFill/>
        </p:spPr>
        <p:txBody>
          <a:bodyPr wrap="square" rtlCol="0" anchor="b">
            <a:normAutofit/>
          </a:bodyPr>
          <a:lstStyle>
            <a:lvl1pPr marL="0" indent="0">
              <a:buNone/>
              <a:def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>
                <a:sym typeface="+mn-ea"/>
              </a:rPr>
              <a:t>Click to add subtitle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91540" y="4946650"/>
            <a:ext cx="5776595" cy="1244600"/>
          </a:xfrm>
        </p:spPr>
        <p:txBody>
          <a:bodyPr wrap="square" anchor="b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1421061" y="4299150"/>
            <a:ext cx="5193634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838198" y="4335150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7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7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0" y="995680"/>
            <a:ext cx="4690745" cy="2914015"/>
          </a:xfrm>
        </p:spPr>
        <p:txBody>
          <a:bodyPr wrap="square" anchor="b">
            <a:normAutofit/>
          </a:bodyPr>
          <a:lstStyle>
            <a:lvl1pPr algn="ctr">
              <a:defRPr sz="58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7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1" name="等腰三角形 15"/>
          <p:cNvSpPr/>
          <p:nvPr>
            <p:custDataLst>
              <p:tags r:id="rId3"/>
            </p:custDataLst>
          </p:nvPr>
        </p:nvSpPr>
        <p:spPr>
          <a:xfrm rot="13818227">
            <a:off x="10844016" y="394665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985001" y="3981423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13" name="等腰三角形 15"/>
          <p:cNvSpPr/>
          <p:nvPr>
            <p:custDataLst>
              <p:tags r:id="rId6"/>
            </p:custDataLst>
          </p:nvPr>
        </p:nvSpPr>
        <p:spPr>
          <a:xfrm rot="3018227">
            <a:off x="977129" y="58074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 rot="10800000">
            <a:off x="1317" y="4445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696000" y="3274695"/>
            <a:ext cx="10800000" cy="2646680"/>
          </a:xfrm>
        </p:spPr>
        <p:txBody>
          <a:bodyPr wrap="square" anchor="t" anchorCtr="0">
            <a:normAutofit/>
          </a:bodyPr>
          <a:lstStyle>
            <a:lvl1pPr algn="ctr">
              <a:defRPr sz="6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7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524000" y="307340"/>
            <a:ext cx="9144000" cy="2759710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5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0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7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7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7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0" y="360045"/>
            <a:ext cx="10798810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7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Arial" panose="020B07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2" name="等腰三角形 15"/>
          <p:cNvSpPr/>
          <p:nvPr>
            <p:custDataLst>
              <p:tags r:id="rId3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838835" y="212725"/>
            <a:ext cx="10514965" cy="2973070"/>
          </a:xfr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1218565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892175" y="5288280"/>
            <a:ext cx="7315200" cy="894715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704020202020204" pitchFamily="34" charset="0"/>
              <a:buNone/>
              <a:defRPr kumimoji="0" lang="en-US" sz="18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1443990" y="3674110"/>
            <a:ext cx="9910445" cy="120396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704020202020204" pitchFamily="34" charset="0"/>
              <a:buNone/>
              <a:defRPr kumimoji="0" lang="en-US" sz="20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838833" y="3603245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7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41.xml"/><Relationship Id="rId18" Type="http://schemas.openxmlformats.org/officeDocument/2006/relationships/tags" Target="../tags/tag140.xml"/><Relationship Id="rId17" Type="http://schemas.openxmlformats.org/officeDocument/2006/relationships/tags" Target="../tags/tag139.xml"/><Relationship Id="rId16" Type="http://schemas.openxmlformats.org/officeDocument/2006/relationships/tags" Target="../tags/tag138.xml"/><Relationship Id="rId15" Type="http://schemas.openxmlformats.org/officeDocument/2006/relationships/tags" Target="../tags/tag137.xml"/><Relationship Id="rId14" Type="http://schemas.openxmlformats.org/officeDocument/2006/relationships/tags" Target="../tags/tag136.xml"/><Relationship Id="rId13" Type="http://schemas.openxmlformats.org/officeDocument/2006/relationships/image" Target="../media/image2.png"/><Relationship Id="rId12" Type="http://schemas.openxmlformats.org/officeDocument/2006/relationships/tags" Target="../tags/tag13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商务-红色-折纸_0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>
            <a:gsLst>
              <a:gs pos="0">
                <a:schemeClr val="accent3">
                  <a:lumMod val="80000"/>
                  <a:lumOff val="20000"/>
                </a:schemeClr>
              </a:gs>
              <a:gs pos="50000">
                <a:schemeClr val="accent2"/>
              </a:gs>
              <a:gs pos="100000">
                <a:schemeClr val="accent1"/>
              </a:gs>
            </a:gsLst>
            <a:lin ang="108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p>
            <a:pPr algn="ctr"/>
            <a:endParaRPr lang="zh-CN" alt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>
                  <a:lumMod val="70000"/>
                  <a:lumOff val="30000"/>
                </a:schemeClr>
              </a:gs>
              <a:gs pos="35000">
                <a:schemeClr val="accent2"/>
              </a:gs>
              <a:gs pos="100000">
                <a:schemeClr val="accent1"/>
              </a:gs>
            </a:gsLst>
            <a:lin ang="3000000" scaled="0"/>
          </a:gradFill>
          <a:latin typeface="Arial" panose="020B0704020202020204" pitchFamily="34" charset="0"/>
          <a:sym typeface="Arial" panose="020B07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Arial" panose="020B0704020202020204" pitchFamily="34" charset="0"/>
          <a:sym typeface="Arial" panose="020B07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93420" y="527685"/>
            <a:ext cx="10514965" cy="1847215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br>
              <a:rPr lang="en-US" sz="2000" b="0">
                <a:latin typeface="Times New Roman Regular" panose="02020603050405020304" charset="0"/>
                <a:ea typeface="+mj-ea"/>
                <a:cs typeface="Times New Roman Regular" panose="02020603050405020304" charset="0"/>
              </a:rPr>
            </a:br>
            <a:r>
              <a:rPr lang="en-US" sz="2000" b="0">
                <a:solidFill>
                  <a:srgbClr val="0070C0"/>
                </a:solidFill>
                <a:latin typeface="Times New Roman Regular" panose="02020603050405020304" charset="0"/>
                <a:ea typeface="+mj-ea"/>
                <a:cs typeface="Times New Roman Regular" panose="02020603050405020304" charset="0"/>
              </a:rPr>
              <a:t>PayKX</a:t>
            </a:r>
            <a:endParaRPr lang="en-US" sz="2000" b="0">
              <a:solidFill>
                <a:srgbClr val="0070C0"/>
              </a:solidFill>
              <a:latin typeface="Times New Roman Regular" panose="02020603050405020304" charset="0"/>
              <a:ea typeface="+mj-ea"/>
              <a:cs typeface="Times New Roman Regular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2000" b="0">
                <a:solidFill>
                  <a:srgbClr val="0070C0"/>
                </a:solidFill>
                <a:latin typeface="Times New Roman Regular" panose="02020603050405020304" charset="0"/>
                <a:ea typeface="+mj-ea"/>
                <a:cs typeface="Times New Roman Regular" panose="02020603050405020304" charset="0"/>
              </a:rPr>
              <a:t>Ví điện tử cho sinh viên</a:t>
            </a:r>
            <a:endParaRPr lang="en-US" sz="2000" b="0">
              <a:solidFill>
                <a:srgbClr val="0070C0"/>
              </a:solidFill>
              <a:latin typeface="Times New Roman Regular" panose="02020603050405020304" charset="0"/>
              <a:ea typeface="+mj-ea"/>
              <a:cs typeface="Times New Roman Regular" panose="02020603050405020304" charset="0"/>
            </a:endParaRPr>
          </a:p>
        </p:txBody>
      </p:sp>
      <p:sp>
        <p:nvSpPr>
          <p:cNvPr id="10" name="公司名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92175" y="5288280"/>
            <a:ext cx="7315200" cy="894715"/>
          </a:xfrm>
        </p:spPr>
        <p:txBody>
          <a:bodyPr/>
          <a:lstStyle/>
          <a:p>
            <a:r>
              <a:rPr lang="en-US">
                <a:ea typeface="+mn-ea"/>
              </a:rPr>
              <a:t> </a:t>
            </a:r>
            <a:endParaRPr lang="en-US">
              <a:ea typeface="+mn-ea"/>
            </a:endParaRPr>
          </a:p>
          <a:p>
            <a:r>
              <a:rPr lang="en-US">
                <a:ea typeface="+mn-ea"/>
              </a:rPr>
              <a:t> </a:t>
            </a:r>
            <a:endParaRPr lang="en-US">
              <a:ea typeface="+mn-ea"/>
            </a:endParaRPr>
          </a:p>
        </p:txBody>
      </p:sp>
      <p:sp>
        <p:nvSpPr>
          <p:cNvPr id="11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prstGeom prst="rect">
            <a:avLst/>
          </a:prstGeom>
        </p:spPr>
        <p:txBody>
          <a:bodyPr/>
          <a:p>
            <a:r>
              <a:rPr lang="en-US">
                <a:ea typeface="+mn-ea"/>
              </a:rPr>
              <a:t> </a:t>
            </a:r>
            <a:endParaRPr lang="en-US">
              <a:ea typeface="+mn-ea"/>
            </a:endParaRPr>
          </a:p>
          <a:p>
            <a:endParaRPr lang="en-US">
              <a:ea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443990" y="3241675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000" b="1">
                <a:solidFill>
                  <a:srgbClr val="0070C0"/>
                </a:solidFill>
                <a:latin typeface="Times New Roman Bold" panose="02020603050405020304" charset="0"/>
                <a:cs typeface="Times New Roman Bold" panose="02020603050405020304" charset="0"/>
              </a:rPr>
              <a:t>BÁO CÁO LỖ LÃI</a:t>
            </a:r>
            <a:endParaRPr lang="en-US" sz="3000" b="1">
              <a:solidFill>
                <a:srgbClr val="0070C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000" b="1">
                <a:solidFill>
                  <a:srgbClr val="0070C0"/>
                </a:solidFill>
                <a:latin typeface="Times New Roman Bold" panose="02020603050405020304" charset="0"/>
                <a:cs typeface="Times New Roman Bold" panose="02020603050405020304" charset="0"/>
              </a:rPr>
              <a:t>THÁNG 05/2024</a:t>
            </a:r>
            <a:endParaRPr lang="en-US" sz="3000" b="1">
              <a:solidFill>
                <a:srgbClr val="0070C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7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olidFill>
                  <a:srgbClr val="0070C0"/>
                </a:solidFill>
                <a:ea typeface="+mj-ea"/>
                <a:cs typeface="+mn-ea"/>
                <a:sym typeface="+mn-ea"/>
              </a:rPr>
              <a:t>Tổng quan kết quả</a:t>
            </a:r>
            <a:endParaRPr lang="en-US" dirty="0">
              <a:solidFill>
                <a:srgbClr val="0070C0"/>
              </a:solidFill>
              <a:ea typeface="+mj-ea"/>
              <a:cs typeface="+mn-ea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>
                <a:solidFill>
                  <a:srgbClr val="0070C0"/>
                </a:solidFill>
              </a:rPr>
              <a:t>Doanh thu đầu tuần</a:t>
            </a:r>
            <a:endParaRPr lang="en-US">
              <a:solidFill>
                <a:srgbClr val="0070C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524750" y="42799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rgbClr val="0070C0"/>
                </a:solidFill>
              </a:rPr>
              <a:t>Cơ cấu chi phí</a:t>
            </a:r>
            <a:endParaRPr lang="en-US" sz="3200" b="1">
              <a:solidFill>
                <a:srgbClr val="0070C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1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90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9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THANK YOU"/>
</p:tagLst>
</file>

<file path=ppt/tags/tag143.xml><?xml version="1.0" encoding="utf-8"?>
<p:tagLst xmlns:p="http://schemas.openxmlformats.org/presentationml/2006/main">
  <p:tag name="KSO_WM_UNIT_SUBTYPE" val="g"/>
  <p:tag name="KSO_WM_UNIT_NOCLEAR" val="0"/>
  <p:tag name="KSO_WM_UNIT_VALUE" val="9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7990_9*f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YOUR LOGO"/>
</p:tagLst>
</file>

<file path=ppt/tags/tag144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署名占位符"/>
</p:tagLst>
</file>

<file path=ppt/tags/tag145.xml><?xml version="1.0" encoding="utf-8"?>
<p:tagLst xmlns:p="http://schemas.openxmlformats.org/presentationml/2006/main">
  <p:tag name="KSO_WM_SPECIAL_SOURCE" val="bdnull"/>
  <p:tag name="KSO_WM_SLIDE_ID" val="custom20237990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7990"/>
  <p:tag name="KSO_WM_SLIDE_LAYOUT" val="a_f"/>
  <p:tag name="KSO_WM_SLIDE_LAYOUT_CNT" val="1_2"/>
  <p:tag name="KSO_WM_SLIDE_THEME_ID" val="3312678"/>
  <p:tag name="KSO_WM_SLIDE_THEME_NAME" val="Red Minimalist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Helvetica Neue"/>
        <a:ea typeface=""/>
        <a:cs typeface=""/>
        <a:font script="Jpan" typeface="BIZ UDMincho"/>
        <a:font script="Hang" typeface="맑은 고딕"/>
        <a:font script="Hans" typeface="等线 Light"/>
        <a:font script="Hant" typeface="微軟正黑體"/>
        <a:font script="Arab" typeface="Geeza Pro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BIZ UDMincho"/>
        <a:font script="Hang" typeface="맑은 고딕"/>
        <a:font script="Hans" typeface="等线"/>
        <a:font script="Hant" typeface="微軟正黑體"/>
        <a:font script="Arab" typeface="Geeza Pro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自定义 112">
      <a:dk1>
        <a:srgbClr val="000000"/>
      </a:dk1>
      <a:lt1>
        <a:srgbClr val="FFFFFF"/>
      </a:lt1>
      <a:dk2>
        <a:srgbClr val="61514D"/>
      </a:dk2>
      <a:lt2>
        <a:srgbClr val="E7E6E6"/>
      </a:lt2>
      <a:accent1>
        <a:srgbClr val="E03835"/>
      </a:accent1>
      <a:accent2>
        <a:srgbClr val="E65235"/>
      </a:accent2>
      <a:accent3>
        <a:srgbClr val="EC6C36"/>
      </a:accent3>
      <a:accent4>
        <a:srgbClr val="F38736"/>
      </a:accent4>
      <a:accent5>
        <a:srgbClr val="F9A137"/>
      </a:accent5>
      <a:accent6>
        <a:srgbClr val="FFB31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3">
                <a:lumMod val="80000"/>
                <a:lumOff val="20000"/>
              </a:schemeClr>
            </a:gs>
            <a:gs pos="50000">
              <a:schemeClr val="accent2"/>
            </a:gs>
            <a:gs pos="100000">
              <a:schemeClr val="accent1"/>
            </a:gs>
          </a:gsLst>
          <a:lin ang="10800000" scaled="0"/>
        </a:gradFill>
        <a:ln w="28575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lang="en-US" b="1">
            <a:gradFill>
              <a:gsLst>
                <a:gs pos="0">
                  <a:schemeClr val="accent2">
                    <a:lumMod val="70000"/>
                    <a:lumOff val="30000"/>
                  </a:schemeClr>
                </a:gs>
                <a:gs pos="35000">
                  <a:schemeClr val="accent2"/>
                </a:gs>
                <a:gs pos="100000">
                  <a:schemeClr val="accent1"/>
                </a:gs>
              </a:gsLst>
              <a:lin ang="3000000" scaled="0"/>
            </a:gra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WPS Docs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32" baseType="lpstr">
      <vt:lpstr>Arial</vt:lpstr>
      <vt:lpstr>SimSun</vt:lpstr>
      <vt:lpstr>Wingdings</vt:lpstr>
      <vt:lpstr>Wingdings</vt:lpstr>
      <vt:lpstr>Helvetica Neue</vt:lpstr>
      <vt:lpstr>Microsoft YaHei</vt:lpstr>
      <vt:lpstr>汉仪旗黑</vt:lpstr>
      <vt:lpstr>Arial Unicode MS</vt:lpstr>
      <vt:lpstr>Calibri</vt:lpstr>
      <vt:lpstr>宋体-简</vt:lpstr>
      <vt:lpstr>Arial Narrow Regular</vt:lpstr>
      <vt:lpstr>Geeza Pro Regular</vt:lpstr>
      <vt:lpstr>Hiragino Kaku Gothic Pro W3</vt:lpstr>
      <vt:lpstr>Hiragino Mincho Pro W3</vt:lpstr>
      <vt:lpstr>Hiragino Mincho ProN W3</vt:lpstr>
      <vt:lpstr>Hiragino Kaku Gothic ProN W3</vt:lpstr>
      <vt:lpstr>Al Bayan Plain</vt:lpstr>
      <vt:lpstr>Al Nile Regular</vt:lpstr>
      <vt:lpstr>American Typewriter Regular</vt:lpstr>
      <vt:lpstr>Andale Mono</vt:lpstr>
      <vt:lpstr>Times New Roman Regular</vt:lpstr>
      <vt:lpstr>SimSun</vt:lpstr>
      <vt:lpstr>Manrope ExtraBold</vt:lpstr>
      <vt:lpstr>Lato</vt:lpstr>
      <vt:lpstr>苹方-简</vt:lpstr>
      <vt:lpstr>Helvetica Neue Regular</vt:lpstr>
      <vt:lpstr>Times New Roman Bold</vt:lpstr>
      <vt:lpstr>WPS</vt:lpstr>
      <vt:lpstr>Office Theme</vt:lpstr>
      <vt:lpstr>Ví điện tử cho sinh viên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_x000B_PayKXVí điện tử cho sinh viên</dc:title>
  <dc:creator>hung</dc:creator>
  <cp:lastModifiedBy>QuangHưng Đặng</cp:lastModifiedBy>
  <cp:revision>1</cp:revision>
  <dcterms:created xsi:type="dcterms:W3CDTF">2026-10-26T04:24:53Z</dcterms:created>
  <dcterms:modified xsi:type="dcterms:W3CDTF">2026-10-26T04:24:53Z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1033-12.1.29182.29182</vt:lpwstr>
  </property>
  <property fmtid="{D5CDD505-2E9C-101B-9397-08002B2CF9AE}" pid="3" name="ICV">
    <vt:lpwstr>B6A860A908EF62BCF6D1DE6A24E4531C_41</vt:lpwstr>
  </property>
</Properties>
</file>